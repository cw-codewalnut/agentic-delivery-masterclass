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Nattu has established the lifecycle problem. Land: faster generation is useful, but it is not the same as dependable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select Capture &amp; Refine, then open its role and skill files. Do: point to the separate domain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walkthrough. Do not describe this as a live autonomous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expand the full skill, then the domain file. Land: domain truth remains human-owned.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merge and release as separate decisions. Then move to Nattu’s four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exact capability names. Do not rename them as the four journey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sequence explicitly: Capture &amp; Refine → Design →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role and skill source. Point out the explicit stop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worked-example file if present; label all example artefacts as prepared.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invent execution results. Open repository evidence only when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Land: merge confidence is not release confidence. Do not imply an NFR X-ray or merge score was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product score is shown; no release claim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Curator source files. Land: version, review, maintain and recheck.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claim of enterprise adoption. This is an operating pattern for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free 90-minute masterclass refers to the overall event. This contribution’s working 50-minute slot remains provisional. Do not imply a human rehearsal occurred.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Reset returns to the opening. Recovery: PDF and PPTX carry the same scene sequence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THE DELIVERY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Faster coding is only the beginning.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Follow one ordinary change from a vague request to an inspectable decision — then use what it teaches us to improve the next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58D2DF"/>
                </a:solidFill>
                <a:latin typeface="Georgia"/>
              </a:defRPr>
            </a:pPr>
            <a:r>
              <a:t>“Let customers cancel their orders.”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The bottleneck moves from producing code to agreeing intent, carrying it through and judging the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ROLE 01 / CAPTURE &amp; REFINE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The request is simple. The behaviour isn’t.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Before implementation, expose the decisions hidden inside the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WHO?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2F0E9"/>
                </a:solidFill>
                <a:latin typeface="Avenir Next"/>
              </a:defRPr>
            </a:pPr>
            <a:r>
              <a:t>The owner, a support agent, or anyone with an order ID?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423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WHEN?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231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2F0E9"/>
                </a:solidFill>
                <a:latin typeface="Avenir Next"/>
              </a:defRPr>
            </a:pPr>
            <a:r>
              <a:t>Before fulfilment starts, while it is in progress, or afterwards?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REPEAT?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3832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2F0E9"/>
                </a:solidFill>
                <a:latin typeface="Avenir Next"/>
              </a:defRPr>
            </a:pPr>
            <a:r>
              <a:t>Does a repeated request return the same outcome or create new work?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FAILURE?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3832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2F0E9"/>
                </a:solidFill>
                <a:latin typeface="Avenir Next"/>
              </a:defRPr>
            </a:pPr>
            <a:r>
              <a:t>What remains true if cancellation only partly completes?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The first useful output is not code. It is a decision-ready set of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VERTICAL SLICE /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Turn the request into an agreement.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A reusable method asks; product-specific knowledge constrains; a human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Cancel an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Eligibility is unresolved.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8698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8698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578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578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After fulfilment starts?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1578" y="353872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Cancellation or returns?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0196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HUMAN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Before fulfilment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6" y="353872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Afterwards, refuse unchanged; returns outside scope.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1694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1694" y="233172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4574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AGREED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4574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Testable behaviour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4574" y="353872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Eligibility, repeats and failure states are explicit.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Capture &amp; Refine creates a shared, testable agreement — not merely a longer document.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METHOD ×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Separate what travels from what belongs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The capability improves when reusable technique and product truth can change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518404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51526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REUSABLE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51526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How to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51526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Permissions · validation · repeats · errors · partial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0196" y="2331720"/>
            <a:ext cx="5518404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233172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2496312"/>
            <a:ext cx="51526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DOMAIN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2862072"/>
            <a:ext cx="51526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What applies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538728"/>
            <a:ext cx="51526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Order states · ownership · fulfilment · payment obligations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The questions can travel across products. The business answers usually cannot.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THE REIMAGINED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Carry intent through six explicit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The seven roles are a practical mapping onto the lifecycle — not a replacement for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729740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13639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13639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13639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Agree what should happen.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1532" y="2331720"/>
            <a:ext cx="1729740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1532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4412" y="2496312"/>
            <a:ext cx="13639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4412" y="2862072"/>
            <a:ext cx="13639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4412" y="3538728"/>
            <a:ext cx="13639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Create the bounded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4" y="2331720"/>
            <a:ext cx="1729740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5864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744" y="2496312"/>
            <a:ext cx="13639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8744" y="2862072"/>
            <a:ext cx="13639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8744" y="3538728"/>
            <a:ext cx="13639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Gather claim-specific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0196" y="2331720"/>
            <a:ext cx="1729740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0196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2496312"/>
            <a:ext cx="13639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6" y="2862072"/>
            <a:ext cx="13639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3076" y="3538728"/>
            <a:ext cx="13639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Decide whether it can enter the codebase.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4528" y="2331720"/>
            <a:ext cx="1729740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4528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7408" y="2496312"/>
            <a:ext cx="13639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7408" y="2862072"/>
            <a:ext cx="13639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7408" y="3538728"/>
            <a:ext cx="13639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Decide whether users can safely receive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8860" y="2331720"/>
            <a:ext cx="1729740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28860" y="233172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1740" y="2496312"/>
            <a:ext cx="13639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1740" y="2862072"/>
            <a:ext cx="13639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1740" y="3538728"/>
            <a:ext cx="13639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Improve the next delivery cycle.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Intent → Build → Prove → Merge → Release → Learn.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THE FOUR CAPABILITIES OF AN AGENTIC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0E9"/>
                </a:solidFill>
                <a:latin typeface="Georgia"/>
              </a:defRPr>
            </a:pPr>
            <a:r>
              <a:t>Four capabilities make the lifecycle dependable.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6231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They reduce ambiguity, scale merge confidence, automate release confidence and govern decisions with clear authority.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Ambiguity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2160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Resolve consequential uncertainty before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8698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8698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578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578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Scalable merge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1578" y="372160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Inspect current, relevant evidence for a merge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0196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Automated release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6" y="372160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Assess assembled-system and operational readiness.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1694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1694" y="251460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4574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4574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Engineering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4574" y="372160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Bound authority, approvals, provenance and learning.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Capability connects faster production to confidence and control.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02 /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0E9"/>
                </a:solidFill>
                <a:latin typeface="Georgia"/>
              </a:defRPr>
            </a:pPr>
            <a:r>
              <a:t>Design makes the behaviour visible before planning the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6231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The agreed requirement becomes states, interactions, edge cases and an experience contract.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Agreed behaviour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8698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8698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1578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78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States · access · refusal · recovery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196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0196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3076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6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Experience contract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1694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1694" y="251460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4574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4574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Unresolved product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Design precedes planning so implementation is not forced to invent the user experience.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03 /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The plan names the path and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Technical choices are tied to acceptance criteria, risks and verification before code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PRD + experience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8698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8698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1578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78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Scope · dependencies · failure modes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196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0196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3076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6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Build and verification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1694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1694" y="233172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4574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4574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Unsafe or untestable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A plan is useful when the Builder and Tester can tell what done means.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04 /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0E9"/>
                </a:solidFill>
                <a:latin typeface="Georgia"/>
              </a:defRPr>
            </a:pPr>
            <a:r>
              <a:t>Build the bounded change — and preserve the agreement.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6231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Implementation and tests remain traceable to the decided behaviour and technical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Approved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8698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8698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1578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78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Code · tests · migration safety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196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0196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3076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6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Scoped change + local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1694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1694" y="251460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4574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4574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Requirement or plan contradiction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The Builder does not silently resolve product ambiguity in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05 / TESTER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0E9"/>
                </a:solidFill>
                <a:latin typeface="Georgia"/>
              </a:defRPr>
            </a:pPr>
            <a:r>
              <a:t>Evidence answers a claim — not every possible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6231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Verification links observed results to the current change, environment and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Change + acceptance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8698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8698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1578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78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Exercise happy, refusal, repeat and failure paths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196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0196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3076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6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Results + gaps + provenance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1694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1694" y="251460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4574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4574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Environment cannot support the claim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Not run is not passed. Old evidence does not prove the current change.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06 / REVIEWER · HONEST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Why should we trust this change?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Review brings intent, change, evidence and open concerns into one bounded decision. The NFR X-ray and merge score are aspirational here, not runnable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3624072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3258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Current evidence supports the scoped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5864" y="2331720"/>
            <a:ext cx="3624072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5864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8744" y="2496312"/>
            <a:ext cx="3258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UNASSESSED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8744" y="2862072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No conclusion: missing, unavailable or outside scope.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331720"/>
            <a:ext cx="3624072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4528" y="233172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7408" y="2496312"/>
            <a:ext cx="3258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STALE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7408" y="2862072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The evidence belongs to an older change or baseline.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Leadership needs the basis for confidence — not a fabricated product score.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DECISION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Ready to merge is not ready to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Related evidence supports different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518404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51526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MERGE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51526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Can this enter the codebase?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51526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Scoped behaviour · review findings · relevant tests · known limitations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0196" y="2331720"/>
            <a:ext cx="5518404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233172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2496312"/>
            <a:ext cx="51526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2862072"/>
            <a:ext cx="51526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Can users safely receive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538728"/>
            <a:ext cx="51526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Integrations · configuration · deployment · rollback ·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A reviewed change is not a blanket guarantee about the production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07 / CURATOR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One finding can improve three different things.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Keep reusable capability, product knowledge and delivery work separate — then review each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Ask about repeats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A reusable refinement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8698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8698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578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578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Record the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1578" y="353872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A human-approved product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0196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Propose a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6" y="353872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A separately scoped delivery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1694" y="233172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1694" y="233172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4574" y="249631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4574" y="286207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Next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4574" y="353872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Did the recurring issue improve?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The loop closes only when learning changes a later decision or delivery outcome.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CONTROLLED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2F0E9"/>
                </a:solidFill>
                <a:latin typeface="Georgia"/>
              </a:defRPr>
            </a:pPr>
            <a:r>
              <a:t>Scale the method — not uncontrolled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Good output, permission to act and worthwhile economics are separate things to establish.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518404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51526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BOUNDED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51526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Read · propose ·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51526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Permitted repositories and data · approved tools · traceable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0196" y="2331720"/>
            <a:ext cx="5518404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233172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2496312"/>
            <a:ext cx="51526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EXPLICIT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2862072"/>
            <a:ext cx="51526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Higher-impact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538728"/>
            <a:ext cx="51526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Credentials · permissions · production data · merge · release ·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Permission to inspect a repository does not imply permission to deploy.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START 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0E9"/>
                </a:solidFill>
                <a:latin typeface="Georgia"/>
              </a:defRPr>
            </a:pPr>
            <a:r>
              <a:t>Adopt around one bottleneck, then inspect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6231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Use a real feature, real owners and explicit evidence boundaries before expanding.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One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2160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A recurring, consequential delivery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8698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8698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578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578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One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1578" y="372160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Named owners, permissions and approval gates.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0196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2514600"/>
            <a:ext cx="41148" cy="233172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Accepted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6" y="372160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Spend, human effort, elapsed time, quality and rework.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1694" y="2514600"/>
            <a:ext cx="2676906" cy="2331720"/>
          </a:xfrm>
          <a:prstGeom prst="roundRect">
            <a:avLst/>
          </a:prstGeom>
          <a:solidFill>
            <a:srgbClr val="0E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1694" y="2514600"/>
            <a:ext cx="41148" cy="2331720"/>
          </a:xfrm>
          <a:prstGeom prst="rect">
            <a:avLst/>
          </a:prstGeom>
          <a:solidFill>
            <a:srgbClr val="84D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4574" y="2679192"/>
            <a:ext cx="2311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4574" y="3044952"/>
            <a:ext cx="231114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0E9"/>
                </a:solidFill>
                <a:latin typeface="Avenir Next"/>
              </a:defRPr>
            </a:pPr>
            <a:r>
              <a:t>Expand or 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4574" y="3721608"/>
            <a:ext cx="23111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7BF"/>
                </a:solidFill>
                <a:latin typeface="Avenir Next"/>
              </a:defRPr>
            </a:pPr>
            <a:r>
              <a:t>Use observed outcomes, not enthusiasm.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The objective is a better accepted outcome — not the cheapest first answer.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D2DF"/>
                </a:solidFill>
                <a:latin typeface="Avenir Next"/>
              </a:defRPr>
            </a:pPr>
            <a:r>
              <a:t>FRACTIONAL CTO MASTERCLASS / CODEWALNUT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64592"/>
            <a:ext cx="4343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9B7BF"/>
                </a:solidFill>
                <a:latin typeface="Avenir Next"/>
              </a:defRPr>
            </a:pPr>
            <a:r>
              <a:t>SYNTHETIC EXAMPLE · ILLUSTRATIVE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8D2DF"/>
                </a:solidFill>
                <a:latin typeface="Avenir Next"/>
              </a:defRPr>
            </a:pPr>
            <a:r>
              <a:t>THE NEXT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0E9"/>
                </a:solidFill>
                <a:latin typeface="Georgia"/>
              </a:defRPr>
            </a:pPr>
            <a:r>
              <a:t>Start with one bottleneck. Improve the next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6231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9B7BF"/>
                </a:solidFill>
                <a:latin typeface="Avenir Next"/>
              </a:defRPr>
            </a:pPr>
            <a:r>
              <a:t>The same request is now agreed, designed, planned, built, tested, reviewed and curated through accountable handoffs.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58D2DF"/>
                </a:solidFill>
                <a:latin typeface="Georgia"/>
              </a:defRPr>
            </a:pPr>
            <a:r>
              <a:t>Intent → delivery → evidence →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74920"/>
            <a:ext cx="11201400" cy="749808"/>
          </a:xfrm>
          <a:prstGeom prst="roundRect">
            <a:avLst/>
          </a:prstGeom>
          <a:solidFill>
            <a:srgbClr val="15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257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0E9"/>
                </a:solidFill>
                <a:latin typeface="Georgia"/>
              </a:defRPr>
            </a:pPr>
            <a:r>
              <a:t>Every feature can improve the product, the domain understanding and the capability used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04288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51376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8464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5552" y="6153912"/>
            <a:ext cx="1719072" cy="22860"/>
          </a:xfrm>
          <a:prstGeom prst="rect">
            <a:avLst/>
          </a:prstGeom>
          <a:solidFill>
            <a:srgbClr val="29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6153912"/>
            <a:ext cx="1719072" cy="22860"/>
          </a:xfrm>
          <a:prstGeom prst="rect">
            <a:avLst/>
          </a:prstGeom>
          <a:solidFill>
            <a:srgbClr val="58D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09960" y="6263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8D2DF"/>
                </a:solidFill>
                <a:latin typeface="Avenir Next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intent to evidence</dc:title>
  <dc:subject>Prepared walkthrough — seven-role agent-assisted SDLC</dc:subject>
  <dc:creator>Ben Sheridan-Edwards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